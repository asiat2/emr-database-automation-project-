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95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95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783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36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37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26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3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867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28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86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555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0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802299"/>
            <a:ext cx="8898193" cy="2541431"/>
          </a:xfrm>
        </p:spPr>
        <p:txBody>
          <a:bodyPr/>
          <a:lstStyle/>
          <a:p>
            <a:pPr algn="ctr"/>
            <a:r>
              <a:rPr dirty="0"/>
              <a:t>EMR Executive Analytics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659" y="3775587"/>
            <a:ext cx="8573728" cy="1219200"/>
          </a:xfrm>
        </p:spPr>
        <p:txBody>
          <a:bodyPr>
            <a:noAutofit/>
          </a:bodyPr>
          <a:lstStyle/>
          <a:p>
            <a:pPr algn="ctr"/>
            <a:r>
              <a:rPr sz="2000" dirty="0"/>
              <a:t>Patient Engagement | Provider Workload | Revenue Insights</a:t>
            </a:r>
          </a:p>
          <a:p>
            <a:pPr algn="ctr"/>
            <a:r>
              <a:rPr sz="2000" dirty="0"/>
              <a:t>Executive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3999" cy="973394"/>
          </a:xfrm>
        </p:spPr>
        <p:txBody>
          <a:bodyPr/>
          <a:lstStyle/>
          <a:p>
            <a:pPr algn="ctr"/>
            <a:r>
              <a:rPr dirty="0"/>
              <a:t>Presentation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73395"/>
            <a:ext cx="9006347" cy="47588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This presentation summarizes key insights derived from patient visits, provider workload, and revenue performance.</a:t>
            </a:r>
          </a:p>
          <a:p>
            <a:pPr marL="0" indent="0">
              <a:buNone/>
            </a:pPr>
            <a:r>
              <a:rPr dirty="0"/>
              <a:t>The goal is to improve: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• Patient engagement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• Care continuity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• Operational efficiency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• Financial sustainability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8324"/>
            <a:ext cx="9143999" cy="796411"/>
          </a:xfrm>
        </p:spPr>
        <p:txBody>
          <a:bodyPr/>
          <a:lstStyle/>
          <a:p>
            <a:pPr algn="ctr"/>
            <a:r>
              <a:rPr dirty="0"/>
              <a:t>Patient Engagement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311" y="1248817"/>
            <a:ext cx="8927688" cy="4276912"/>
          </a:xfrm>
        </p:spPr>
        <p:txBody>
          <a:bodyPr>
            <a:normAutofit/>
          </a:bodyPr>
          <a:lstStyle/>
          <a:p>
            <a:r>
              <a:rPr dirty="0"/>
              <a:t>We evaluated how frequently patients return for care.</a:t>
            </a:r>
          </a:p>
          <a:p>
            <a:pPr marL="0" indent="0">
              <a:buNone/>
            </a:pPr>
            <a:r>
              <a:rPr dirty="0"/>
              <a:t>Findings show: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• Some patients visit only once (possible retention gap)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• Some patients visit frequently (high-risk or chronic cases)</a:t>
            </a:r>
          </a:p>
          <a:p>
            <a:pPr marL="0" indent="0">
              <a:buNone/>
            </a:pPr>
            <a:r>
              <a:rPr dirty="0"/>
              <a:t>Opportunity:</a:t>
            </a:r>
          </a:p>
          <a:p>
            <a:r>
              <a:rPr dirty="0"/>
              <a:t>Improve outreach and follow-up strategies.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316"/>
            <a:ext cx="8014834" cy="1022555"/>
          </a:xfrm>
        </p:spPr>
        <p:txBody>
          <a:bodyPr/>
          <a:lstStyle/>
          <a:p>
            <a:pPr algn="ctr"/>
            <a:r>
              <a:rPr dirty="0"/>
              <a:t>Care Continuity &amp; Readmission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88027"/>
            <a:ext cx="9350477" cy="4886632"/>
          </a:xfrm>
        </p:spPr>
        <p:txBody>
          <a:bodyPr>
            <a:noAutofit/>
          </a:bodyPr>
          <a:lstStyle/>
          <a:p>
            <a:r>
              <a:rPr dirty="0"/>
              <a:t>We examined how many days pass between patient visits.</a:t>
            </a:r>
          </a:p>
          <a:p>
            <a:pPr marL="0" indent="0">
              <a:buNone/>
            </a:pPr>
            <a:r>
              <a:rPr dirty="0"/>
              <a:t>Short gaps may indicate: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• Complications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• Incomplete recovery</a:t>
            </a:r>
          </a:p>
          <a:p>
            <a:pPr marL="0" indent="0">
              <a:buNone/>
            </a:pPr>
            <a:r>
              <a:rPr dirty="0"/>
              <a:t>Long gaps may indicate: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• Disengagement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• Missed preventive care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dirty="0"/>
              <a:t>Recommendation: 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dirty="0"/>
              <a:t>Proactive follow-up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826"/>
            <a:ext cx="9075173" cy="825909"/>
          </a:xfrm>
        </p:spPr>
        <p:txBody>
          <a:bodyPr/>
          <a:lstStyle/>
          <a:p>
            <a:pPr algn="ctr"/>
            <a:r>
              <a:rPr dirty="0"/>
              <a:t>Provider Workload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27" y="1052052"/>
            <a:ext cx="9006346" cy="4817806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We assessed how patient visits are distributed among physicians.</a:t>
            </a:r>
          </a:p>
          <a:p>
            <a:endParaRPr dirty="0"/>
          </a:p>
          <a:p>
            <a:r>
              <a:rPr dirty="0"/>
              <a:t>Findings: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• Workload is generally balanced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• A small group manages higher volumes</a:t>
            </a:r>
          </a:p>
          <a:p>
            <a:endParaRPr dirty="0"/>
          </a:p>
          <a:p>
            <a:r>
              <a:rPr dirty="0"/>
              <a:t>Risk: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• Burnout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• Capacity strain</a:t>
            </a:r>
          </a:p>
          <a:p>
            <a:endParaRPr dirty="0"/>
          </a:p>
          <a:p>
            <a:r>
              <a:rPr dirty="0"/>
              <a:t>Action: Monitor workload sustainability.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884903"/>
          </a:xfrm>
        </p:spPr>
        <p:txBody>
          <a:bodyPr/>
          <a:lstStyle/>
          <a:p>
            <a:pPr algn="ctr"/>
            <a:r>
              <a:rPr dirty="0"/>
              <a:t>Department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33676"/>
            <a:ext cx="9143999" cy="4994398"/>
          </a:xfrm>
        </p:spPr>
        <p:txBody>
          <a:bodyPr>
            <a:normAutofit/>
          </a:bodyPr>
          <a:lstStyle/>
          <a:p>
            <a:r>
              <a:rPr dirty="0"/>
              <a:t>We analyzed performance across service lines.</a:t>
            </a:r>
          </a:p>
          <a:p>
            <a:endParaRPr dirty="0"/>
          </a:p>
          <a:p>
            <a:r>
              <a:rPr dirty="0"/>
              <a:t>Observations: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• Some departments generate stronger revenue growth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• Visit distribution varies by specialty</a:t>
            </a:r>
          </a:p>
          <a:p>
            <a:endParaRPr dirty="0"/>
          </a:p>
          <a:p>
            <a:r>
              <a:rPr dirty="0"/>
              <a:t>Strategic Use: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• Guide resource allocation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• Support service expansion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08156"/>
            <a:ext cx="9143999" cy="934063"/>
          </a:xfrm>
        </p:spPr>
        <p:txBody>
          <a:bodyPr/>
          <a:lstStyle/>
          <a:p>
            <a:pPr algn="ctr"/>
            <a:r>
              <a:rPr dirty="0"/>
              <a:t>Revenue Growth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819" y="1042219"/>
            <a:ext cx="8839200" cy="4866968"/>
          </a:xfrm>
        </p:spPr>
        <p:txBody>
          <a:bodyPr>
            <a:normAutofit/>
          </a:bodyPr>
          <a:lstStyle/>
          <a:p>
            <a:r>
              <a:rPr dirty="0"/>
              <a:t>Revenue accumulation shows steady growth across visits.</a:t>
            </a:r>
          </a:p>
          <a:p>
            <a:endParaRPr dirty="0"/>
          </a:p>
          <a:p>
            <a:r>
              <a:rPr dirty="0"/>
              <a:t>Key Takeaways: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• Stable financial performance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• High-value encounters drive growth</a:t>
            </a:r>
          </a:p>
          <a:p>
            <a:r>
              <a:rPr dirty="0"/>
              <a:t>Executive Value: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• Improve forecasting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• Support investment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9035844" cy="619432"/>
          </a:xfrm>
        </p:spPr>
        <p:txBody>
          <a:bodyPr/>
          <a:lstStyle/>
          <a:p>
            <a:pPr algn="ctr"/>
            <a:r>
              <a:rPr dirty="0"/>
              <a:t>High-Cost Patient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440427"/>
            <a:ext cx="9143999" cy="4596579"/>
          </a:xfrm>
        </p:spPr>
        <p:txBody>
          <a:bodyPr>
            <a:noAutofit/>
          </a:bodyPr>
          <a:lstStyle/>
          <a:p>
            <a:r>
              <a:rPr dirty="0"/>
              <a:t>A small segment of patients accounts for a large portion of spending.</a:t>
            </a:r>
          </a:p>
          <a:p>
            <a:pPr marL="0" indent="0">
              <a:buNone/>
            </a:pPr>
            <a:r>
              <a:rPr dirty="0"/>
              <a:t>These patients may represent: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Chronic conditions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Complex care needs</a:t>
            </a:r>
          </a:p>
          <a:p>
            <a:pPr marL="0" indent="0">
              <a:buNone/>
            </a:pPr>
            <a:r>
              <a:rPr dirty="0"/>
              <a:t>Strategic Focus:</a:t>
            </a:r>
          </a:p>
          <a:p>
            <a:pPr marL="0" indent="0">
              <a:buNone/>
            </a:pPr>
            <a:r>
              <a:rPr dirty="0"/>
              <a:t>Targeted care management can reduce avoidable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7820"/>
            <a:ext cx="9143999" cy="894735"/>
          </a:xfrm>
        </p:spPr>
        <p:txBody>
          <a:bodyPr/>
          <a:lstStyle/>
          <a:p>
            <a:pPr algn="ctr"/>
            <a:r>
              <a:rPr dirty="0"/>
              <a:t>Utilization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5071"/>
            <a:ext cx="8976851" cy="4591275"/>
          </a:xfrm>
        </p:spPr>
        <p:txBody>
          <a:bodyPr/>
          <a:lstStyle/>
          <a:p>
            <a:r>
              <a:rPr dirty="0"/>
              <a:t>Visit patterns remain stable over short time periods.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This suggests: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• No abnormal surge patterns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• Predictable operational demand</a:t>
            </a:r>
          </a:p>
          <a:p>
            <a:r>
              <a:rPr dirty="0"/>
              <a:t>Continued monitoring will help detect early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042219"/>
          </a:xfrm>
        </p:spPr>
        <p:txBody>
          <a:bodyPr/>
          <a:lstStyle/>
          <a:p>
            <a:pPr algn="ctr"/>
            <a:r>
              <a:rPr dirty="0"/>
              <a:t>Executive-Level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87" y="1042219"/>
            <a:ext cx="9026012" cy="5053781"/>
          </a:xfrm>
        </p:spPr>
        <p:txBody>
          <a:bodyPr>
            <a:normAutofit/>
          </a:bodyPr>
          <a:lstStyle/>
          <a:p>
            <a:r>
              <a:rPr dirty="0"/>
              <a:t>This analysis provides clear visibility into:</a:t>
            </a:r>
          </a:p>
          <a:p>
            <a:endParaRPr dirty="0"/>
          </a:p>
          <a:p>
            <a:pPr marL="457200" lvl="1" indent="0">
              <a:buNone/>
            </a:pPr>
            <a:r>
              <a:rPr sz="2000" dirty="0"/>
              <a:t>• Patient retention and engagement</a:t>
            </a:r>
          </a:p>
          <a:p>
            <a:pPr marL="457200" lvl="1" indent="0">
              <a:buNone/>
            </a:pPr>
            <a:r>
              <a:rPr sz="2000" dirty="0"/>
              <a:t>• Readmission risk patterns</a:t>
            </a:r>
          </a:p>
          <a:p>
            <a:pPr marL="457200" lvl="1" indent="0">
              <a:buNone/>
            </a:pPr>
            <a:r>
              <a:rPr sz="2000" dirty="0"/>
              <a:t>• Provider workload balance</a:t>
            </a:r>
          </a:p>
          <a:p>
            <a:pPr marL="457200" lvl="1" indent="0">
              <a:buNone/>
            </a:pPr>
            <a:r>
              <a:rPr sz="2000" dirty="0"/>
              <a:t>• Department-level revenue performance</a:t>
            </a:r>
          </a:p>
          <a:p>
            <a:pPr marL="457200" lvl="1" indent="0">
              <a:buNone/>
            </a:pPr>
            <a:r>
              <a:rPr sz="2000" dirty="0"/>
              <a:t>• High-cost patient concentration</a:t>
            </a:r>
            <a:endParaRPr dirty="0"/>
          </a:p>
          <a:p>
            <a:r>
              <a:rPr dirty="0"/>
              <a:t>Recommendation: Implement real-time monitoring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52</TotalTime>
  <Words>382</Words>
  <Application>Microsoft Office PowerPoint</Application>
  <PresentationFormat>On-screen Show (4:3)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EMR Executive Analytics Overview</vt:lpstr>
      <vt:lpstr>Presentation Objective</vt:lpstr>
      <vt:lpstr>Patient Engagement Overview</vt:lpstr>
      <vt:lpstr>Care Continuity &amp; Readmission Patterns</vt:lpstr>
      <vt:lpstr>Provider Workload Distribution</vt:lpstr>
      <vt:lpstr>Department Performance Insights</vt:lpstr>
      <vt:lpstr>Revenue Growth Trends</vt:lpstr>
      <vt:lpstr>High-Cost Patient Segmentation</vt:lpstr>
      <vt:lpstr>Utilization Stability</vt:lpstr>
      <vt:lpstr>Executive-Level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Ashiat Adeogun</cp:lastModifiedBy>
  <cp:revision>15</cp:revision>
  <dcterms:created xsi:type="dcterms:W3CDTF">2013-01-27T09:14:16Z</dcterms:created>
  <dcterms:modified xsi:type="dcterms:W3CDTF">2026-03-02T21:52:19Z</dcterms:modified>
  <cp:category/>
</cp:coreProperties>
</file>